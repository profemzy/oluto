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OLUTO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Autopilot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Modern Builder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Canadian small businesses from reactive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record-keeping to proactive financial mastery.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2511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4251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Canada-First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425196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43251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3240" y="4251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Cashflow-First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425196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32511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4920" y="4251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Philosophy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45920" y="149047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'Anti-QuickBooks' approach to cashflow management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745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45920" y="208483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pros and bookkeepers — two personas, one platform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237744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2423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688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Today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45920" y="267919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Safe-to-Spend, AI categorization, CSV/PDF import, exceptions inbox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297180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632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645920" y="32735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brain, TypeScript face — FastAPI, Next.js, Celery, K8s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40080" y="356616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" y="3611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65760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1645920" y="386791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isolation, JWT auth, encrypted data, audit-ready design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0080" y="4206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25196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6459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1645920" y="446227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MVP to full financial autopilot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VISION &amp; PHILOSOPHY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Reactive to Proactive Financial Mastery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"Here's a report of what you did wrong last month."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84048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34640"/>
            <a:ext cx="54864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Oluto 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"Here's what you need to do today to be safe next month."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0876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Low-Overwhelm UX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03520" y="17556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cash command center + 5-minute exceptions inbox. Progressive disclosure minimizes cognitive load.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517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Verifiability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303520" y="28986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integrity checks, AI confidence scoring, and complete audit trail. Every number is explainable.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947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Cashflow Semantics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303520" y="40416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 logic with province-aware GST/HST/PST tax set-asides. Built for Canadian tax reality.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"Oluto" means the guide or regulator — an active Financial Copilot, not a passive scribe.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TARGET 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Personas, One Seamless Experience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the Service 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of a service-based small business (trades, consulting, home services) anywhere in Canada.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finish admin work quickly so I can focus on my business."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3749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Bookkeeping piles up until overwhelming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on actual safe-to-spend amounts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Dreads tax season every year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371600"/>
            <a:ext cx="3749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Accountant / Bookkeeper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8348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bookkeeper or fractional CFO managing 10-30 Canadian small business clients.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834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8348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the records complete? Can I close faster with fewer back-and-forths?"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8348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983480" y="3749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clients for missing receipts/info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takes too long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client financial health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WHAT'S BUILT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Safe-to-Spend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18745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087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Balance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$24,500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0" y="137160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37160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554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6120" y="15087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Lockbox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88036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$8,200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88036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reserved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846320" y="137160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371600"/>
            <a:ext cx="1874520" cy="45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15087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98348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$16,300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498348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949440" y="1371600"/>
            <a:ext cx="1874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49440" y="1371600"/>
            <a:ext cx="187452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5544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15087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08660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708660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attention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4008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Safe-to-Spend Works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4008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-  Expenses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40080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-  Tax Reserved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40080" y="4032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=  Safe-to-Spend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4008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Health Indicator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40080" y="4663440"/>
            <a:ext cx="36576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29"/>
          <p:cNvSpPr/>
          <p:nvPr/>
        </p:nvSpPr>
        <p:spPr>
          <a:xfrm>
            <a:off x="640080" y="4663440"/>
            <a:ext cx="246888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0"/>
          <p:cNvSpPr/>
          <p:nvPr/>
        </p:nvSpPr>
        <p:spPr>
          <a:xfrm>
            <a:off x="64008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— Green Zone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84632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Status Pipeline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48463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492240" y="3246120"/>
            <a:ext cx="16459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4"/>
          <p:cNvSpPr/>
          <p:nvPr/>
        </p:nvSpPr>
        <p:spPr>
          <a:xfrm>
            <a:off x="6492240" y="3246120"/>
            <a:ext cx="9144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1" name="Text 35"/>
          <p:cNvSpPr/>
          <p:nvPr/>
        </p:nvSpPr>
        <p:spPr>
          <a:xfrm>
            <a:off x="8229600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484632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6492240" y="3566160"/>
            <a:ext cx="16459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38"/>
          <p:cNvSpPr/>
          <p:nvPr/>
        </p:nvSpPr>
        <p:spPr>
          <a:xfrm>
            <a:off x="6492240" y="3566160"/>
            <a:ext cx="9144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39"/>
          <p:cNvSpPr/>
          <p:nvPr/>
        </p:nvSpPr>
        <p:spPr>
          <a:xfrm>
            <a:off x="8229600" y="3520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484632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(User)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492240" y="3886200"/>
            <a:ext cx="16459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2"/>
          <p:cNvSpPr/>
          <p:nvPr/>
        </p:nvSpPr>
        <p:spPr>
          <a:xfrm>
            <a:off x="6492240" y="3886200"/>
            <a:ext cx="109728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3"/>
          <p:cNvSpPr/>
          <p:nvPr/>
        </p:nvSpPr>
        <p:spPr>
          <a:xfrm>
            <a:off x="8229600" y="3840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48463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(Firm)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6492240" y="4206240"/>
            <a:ext cx="16459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6"/>
          <p:cNvSpPr/>
          <p:nvPr/>
        </p:nvSpPr>
        <p:spPr>
          <a:xfrm>
            <a:off x="6492240" y="4206240"/>
            <a:ext cx="9144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47"/>
          <p:cNvSpPr/>
          <p:nvPr/>
        </p:nvSpPr>
        <p:spPr>
          <a:xfrm>
            <a:off x="8229600" y="4160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48"/>
          <p:cNvSpPr/>
          <p:nvPr/>
        </p:nvSpPr>
        <p:spPr>
          <a:xfrm>
            <a:off x="484632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6492240" y="4526280"/>
            <a:ext cx="16459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Shape 50"/>
          <p:cNvSpPr/>
          <p:nvPr/>
        </p:nvSpPr>
        <p:spPr>
          <a:xfrm>
            <a:off x="6492240" y="4526280"/>
            <a:ext cx="20574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7" name="Text 51"/>
          <p:cNvSpPr/>
          <p:nvPr/>
        </p:nvSpPr>
        <p:spPr>
          <a:xfrm>
            <a:off x="8229600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48463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6492240" y="4846320"/>
            <a:ext cx="164592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Shape 54"/>
          <p:cNvSpPr/>
          <p:nvPr/>
        </p:nvSpPr>
        <p:spPr>
          <a:xfrm>
            <a:off x="6492240" y="4846320"/>
            <a:ext cx="1645920" cy="1371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1" name="Text 55"/>
          <p:cNvSpPr/>
          <p:nvPr/>
        </p:nvSpPr>
        <p:spPr>
          <a:xfrm>
            <a:off x="82296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WHAT'S BUILT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Categorization &amp; Statement Import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Categorization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Fuelix AI Engine (OpenAI-compatible)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CRA T2125 expense categories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(0.0 - 1.0)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(up to 50 transactions)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Single-transaction suggestions with caching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if AI unavailable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items route to Exceptions Inbox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33832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Every AI suggestion includes a Confidence Score, Reasoning, and One-Tap Undo.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Statement Import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2057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(Inline)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83480" y="2331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column detection (date, amount, description)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amount formats ($, CR, parentheses)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Year-spanning statement correction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83480" y="3154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Import (Async via Celery)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83480" y="3429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Document AI OCR (Azure-hosted)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 tracking (0-100%)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with exponential backoff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983480" y="4114800"/>
            <a:ext cx="33832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paths: Duplicate detection + AI categorization + batch creation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WHAT'S BUILT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Canadian Tax Engine &amp; Exceptions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Province-Aware Tax Calculations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965960"/>
          <a:ext cx="3383280" cy="1097280"/>
        </p:xfrm>
        <a:graphic>
          <a:graphicData uri="http://schemas.openxmlformats.org/drawingml/2006/table">
            <a:tbl>
              <a:tblPr/>
              <a:tblGrid>
                <a:gridCol w="128016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GST/HST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British Columbia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GST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 PST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 HST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GST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3474720"/>
            <a:ext cx="38404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3474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Expanding to all 13 provinces + QST (Quebec)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Decimal precision (never float for money)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Reverse-calculation from total (tax-inclusive)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Auto-applied on transaction creation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137160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Exceptions Inbox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8348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bookkeeping from becoming overwhelming by focusing only on what needs attention.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83480" y="2514600"/>
            <a:ext cx="33832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983480" y="2514600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2"/>
          <p:cNvSpPr/>
          <p:nvPr/>
        </p:nvSpPr>
        <p:spPr>
          <a:xfrm>
            <a:off x="5166360" y="2532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Category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66360" y="2734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AI suggestion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8181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4983480" y="3063240"/>
            <a:ext cx="33832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83480" y="306324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7"/>
          <p:cNvSpPr/>
          <p:nvPr/>
        </p:nvSpPr>
        <p:spPr>
          <a:xfrm>
            <a:off x="5166360" y="3081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Receipt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166360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attachment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8181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4983480" y="3611880"/>
            <a:ext cx="33832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83480" y="3611880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2"/>
          <p:cNvSpPr/>
          <p:nvPr/>
        </p:nvSpPr>
        <p:spPr>
          <a:xfrm>
            <a:off x="5166360" y="3630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Personal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166360" y="3831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8181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4983480" y="4160520"/>
            <a:ext cx="33832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983480" y="4160520"/>
            <a:ext cx="4572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27"/>
          <p:cNvSpPr/>
          <p:nvPr/>
        </p:nvSpPr>
        <p:spPr>
          <a:xfrm>
            <a:off x="5166360" y="41788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Match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166360" y="4379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Between-account match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78181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9F6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Brain, TypeScript 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60604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2606040" cy="50292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898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 Python)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2670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SQLAlchemy 2.0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29626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Mgr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(Modern Python)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34381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3621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" y="40965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(7d) + Argon2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Engine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" y="4572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Decimal math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74720" y="1325880"/>
            <a:ext cx="260604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0" y="1325880"/>
            <a:ext cx="2606040" cy="5029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389888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02336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61188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1188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(TypeScript)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61188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611880" y="2670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611880" y="29626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611880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4.0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611880" y="34381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611880" y="3621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v19 with Server Comps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61188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611880" y="40965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typed client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61188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611880" y="4572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workspaces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309360" y="1325880"/>
            <a:ext cx="2606040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309360" y="1325880"/>
            <a:ext cx="2606040" cy="502920"/>
          </a:xfrm>
          <a:prstGeom prst="rect">
            <a:avLst/>
          </a:prstGeom>
          <a:solidFill>
            <a:srgbClr val="99F6E4">
              <a:alpha val="30000"/>
            </a:srgbClr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89888"/>
            <a:ext cx="320040" cy="32004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85800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644652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44652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(AKS, ACR, KV)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644652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446520" y="2670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(dev+prod)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6446520" y="29626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6446520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Pipelines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6446520" y="34381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6446520" y="3621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ExternalSecrets + KV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644652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6446520" y="40965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 + Let's Encrypt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644652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6446520" y="4572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Flower (dev)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640080" y="4892040"/>
            <a:ext cx="26060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48"/>
          <p:cNvSpPr/>
          <p:nvPr/>
        </p:nvSpPr>
        <p:spPr>
          <a:xfrm>
            <a:off x="640080" y="48920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Everywhere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3474720" y="4892040"/>
            <a:ext cx="260604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0"/>
          <p:cNvSpPr/>
          <p:nvPr/>
        </p:nvSpPr>
        <p:spPr>
          <a:xfrm>
            <a:off x="3474720" y="48920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End-to-End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6309360" y="4892040"/>
            <a:ext cx="2606040" cy="201168"/>
          </a:xfrm>
          <a:prstGeom prst="rect">
            <a:avLst/>
          </a:prstGeom>
          <a:solidFill>
            <a:srgbClr val="99F6E4"/>
          </a:solidFill>
          <a:ln/>
        </p:spPr>
      </p:sp>
      <p:sp>
        <p:nvSpPr>
          <p:cNvPr id="57" name="Text 52"/>
          <p:cNvSpPr/>
          <p:nvPr/>
        </p:nvSpPr>
        <p:spPr>
          <a:xfrm>
            <a:off x="6309360" y="48920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K8s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SECURITY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by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727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business_id scoping on every query. No cross-tenant data paths. Database-level enforcement.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508760"/>
            <a:ext cx="457200" cy="457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57276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bearer flow with 7-day token expiry. Argon2 password hashing. Secure session management.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13716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508760"/>
            <a:ext cx="457200" cy="457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57276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 tiers: Founder, Bookkeeper, Staff, Admin. Least-privilege defaults on all operations.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40156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Transport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for all connections. Azure PostgreSQL requires encrypted connections (DATABASE_SSL=true).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47472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11880" y="3337560"/>
            <a:ext cx="457200" cy="457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340156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synced via ExternalSecrets Operator. No secrets in code or environment files.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30936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46520" y="3337560"/>
            <a:ext cx="457200" cy="457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340156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Design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4652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provenance tracking (import source, batch ID). Architecture designed for SOC 2 readiness.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CI/CD Pipeline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dev.oluto.app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oluto.app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wackopscoach-dev-aks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wackopscoach-prod-aks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(Azure DevOps)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3474720"/>
            <a:ext cx="7315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01-CI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5087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push Docker images to DEV ACR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05840" y="3749040"/>
            <a:ext cx="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840480"/>
            <a:ext cx="7315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840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02-CD DEV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50876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dev.oluto.app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05840" y="4114800"/>
            <a:ext cx="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4206240"/>
            <a:ext cx="7315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206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 for production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05840" y="4480560"/>
            <a:ext cx="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4572000"/>
            <a:ext cx="7315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02-CD PROD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50876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images to PROD ACR + deploy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Architecture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856232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206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9224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routing (nginx + cert-manager)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9514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2064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Pod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9224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async API server</a:t>
            </a:r>
            <a:endParaRPr lang="en-US" sz="10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3405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20640" y="2706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492240" y="2706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(PDF import, AI)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72968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12064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Pod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49224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SSR application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611880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20640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49224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In-cluster broker + cache</a:t>
            </a:r>
            <a:endParaRPr lang="en-US" sz="10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5079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206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Job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649224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upgrade head on deploy</a:t>
            </a:r>
            <a:endParaRPr lang="en-US" sz="10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489704"/>
            <a:ext cx="256032" cy="25603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120640" y="4462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ExternalSecrets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6492240" y="4462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sync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Working MVP to Full Financial Autopilot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60604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0876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0020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The Onramp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foundations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import (CSV + PDF)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Safe-to-Spend dashboard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Inbox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set-asides (BC, ON, AB)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categorization (Fuelix)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background processing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deployment (dev + prod)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37160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37160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150876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3484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1188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Trust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19456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Email-to-Inbox forwarding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PDF verification workflow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and attachment storage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provinces + QST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Running-balance validation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Soft-lock for month-end close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transaction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371600"/>
            <a:ext cx="260604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150876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6948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5-6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Scale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219456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Bookkeeper multi-client console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Cross-client review queue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export package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Voice-to-Ledger (Whisper)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Compass benchmarking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cashflow (Horizon)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integration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 controls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OLUTO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Small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Finance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reporting to proactive guidance.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financial autopilot that modern builders deserve.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377440" cy="8229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77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Fuelix-powered categorization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3840480"/>
            <a:ext cx="2377440" cy="8229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977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9476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confidence scoring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43600" y="3840480"/>
            <a:ext cx="2377440" cy="8229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977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Canada-First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4652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Province-aware tax engine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oluto.app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Oluto — Financial Autopilot for the Modern Builder</dc:title>
  <dc:subject>PptxGenJS Presentation</dc:subject>
  <dc:creator>InfoTitans</dc:creator>
  <cp:lastModifiedBy>InfoTitans</cp:lastModifiedBy>
  <cp:revision>1</cp:revision>
  <dcterms:created xsi:type="dcterms:W3CDTF">2026-02-11T21:36:25Z</dcterms:created>
  <dcterms:modified xsi:type="dcterms:W3CDTF">2026-02-11T21:36:25Z</dcterms:modified>
</cp:coreProperties>
</file>