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Positioning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Market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17 competitors across Canadian-born platforms,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SMB tools, and AI-native newcomers.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Competitors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425196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Market Tiers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425196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Mo. Window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Insights That Define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Oluto's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Cashflow-first gap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leads with real-time safe-to-spend as core UX. QuickBooks buries cash flow in reports.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697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34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770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ignored by 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3108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AI-native newcomers are US/UK-only. Zero CRA compliance, zero Canadian bank integrations.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8404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913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trust crisis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4251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QuickBooks: 1.1-star Trustpilot. Wave: payroll failures. Bench: collapsed Dec 2024. Loyalty is shakeable.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15544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1554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916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table stakes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4924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offers AI categorization. The differentiator is intelligent workflows and proactive guidance.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54880" y="26974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2697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346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2770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Bookkeeper channel open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49240" y="3108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treat bookkeepers as users, not distribution partners. The Xero playbook works in Canada.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Analysis of 17 competitors across 3 market tiers,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of Competition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CANADIAN-BORN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trust deficit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8105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FreshBooks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$154M+ raised, AI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24963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Kashoo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CAD$20-30/mo, manual-first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57400" y="31821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3182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Dec 2024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57400" y="38679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38679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46120" y="1234440"/>
            <a:ext cx="27432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SMB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17373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share, 1.1-star rating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18105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46120" y="24231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 share, unlimited users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4963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46120" y="31089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832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Books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8328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app ecosystem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83480" y="31821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182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46120" y="37947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8328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38328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declining relevance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38679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8679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172200" y="1234440"/>
            <a:ext cx="27432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72200" y="17373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093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0936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 raised, 6 AI agents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909560" y="18105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9560" y="1810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72200" y="24231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3093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0936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raised, cashflow UX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909560" y="24963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172200" y="31089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30936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309360" y="3429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 raised, self-driving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909560" y="31821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3182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172200" y="37947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30936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30936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$47.5M, AI+human hybrid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909560" y="386791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09560" y="38679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Oluto's position: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Canadian-native + AI-powered + Cashflow-first. No competitor addresses all three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DYNAMICS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Incumbent Trust Is Eroding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largest Canadian-accessible platforms are all experiencing trust crises.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743200" cy="2926080"/>
          </a:xfrm>
          <a:prstGeom prst="rect">
            <a:avLst/>
          </a:prstGeom>
          <a:solidFill>
            <a:srgbClr val="111D3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020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market 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 Stars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566160"/>
            <a:ext cx="219456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failures, aggressive price escalation, per-user surcharges of $15-20 CAD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743200" cy="2926080"/>
          </a:xfrm>
          <a:prstGeom prst="rect">
            <a:avLst/>
          </a:prstGeom>
          <a:solidFill>
            <a:srgbClr val="111D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6002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Financial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leader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90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Failures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3566160"/>
            <a:ext cx="219456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without disbursement. Post H&amp;R Block acquisition, innovation stalled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2743200" cy="2926080"/>
          </a:xfrm>
          <a:prstGeom prst="rect">
            <a:avLst/>
          </a:prstGeom>
          <a:solidFill>
            <a:srgbClr val="111D32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600200"/>
            <a:ext cx="27432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Accounting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#1 bookkeeping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550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 Collapse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3566160"/>
            <a:ext cx="219456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customers locked out. Venture debt default. Acquired by Employer.com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of opportunity: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Dissatisfied customers are actively looking for alternatives. Customer loyalty is shakeable.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Startups Have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Canadian Blind Spot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4937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508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488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519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937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8745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1874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agents, autonomous GL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947672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9476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258568"/>
            <a:ext cx="493776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2585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258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rate, runway tracking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2331720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3317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642616"/>
            <a:ext cx="4937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426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26426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8840" y="2642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bookkeeping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2715768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27157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only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026664"/>
            <a:ext cx="493776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266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17320" y="30266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$47.5M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48840" y="3026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hybrid (FaaS)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0" y="3099816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0998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only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3410712"/>
            <a:ext cx="4937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107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Docyt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17320" y="34107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48840" y="3410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for firms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3483864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3483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only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794760"/>
            <a:ext cx="493776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794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17320" y="3794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48840" y="3794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engine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3867912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8679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only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$259.5M combined funding. Zero Canadian presence.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1508760"/>
            <a:ext cx="32918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77840" y="1508760"/>
            <a:ext cx="32918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None of Them Have</a:t>
            </a:r>
            <a:endParaRPr lang="en-US" sz="14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240280"/>
            <a:ext cx="201168" cy="20116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60807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tax compliance</a:t>
            </a:r>
            <a:endParaRPr lang="en-US" sz="110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24328"/>
            <a:ext cx="201168" cy="20116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6080760" y="2578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GST/HST/PST/QST calculations</a:t>
            </a:r>
            <a:endParaRPr lang="en-US" sz="110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008376"/>
            <a:ext cx="201168" cy="20116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080760" y="29626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bank integrations</a:t>
            </a:r>
            <a:endParaRPr lang="en-US" sz="110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392424"/>
            <a:ext cx="201168" cy="20116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080760" y="33467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Province-aware tax rules</a:t>
            </a:r>
            <a:endParaRPr lang="en-US" sz="1100" dirty="0"/>
          </a:p>
        </p:txBody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776472"/>
            <a:ext cx="201168" cy="201168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608076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T2125 expense categories</a:t>
            </a:r>
            <a:endParaRPr lang="en-US" sz="1100" dirty="0"/>
          </a:p>
        </p:txBody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4160520"/>
            <a:ext cx="201168" cy="20116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608076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payment rail support</a:t>
            </a:r>
            <a:endParaRPr lang="en-US" sz="1100" dirty="0"/>
          </a:p>
        </p:txBody>
      </p:sp>
      <p:sp>
        <p:nvSpPr>
          <p:cNvPr id="61" name="Shape 53"/>
          <p:cNvSpPr/>
          <p:nvPr/>
        </p:nvSpPr>
        <p:spPr>
          <a:xfrm>
            <a:off x="5760720" y="4297680"/>
            <a:ext cx="2926080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62" name="Text 54"/>
          <p:cNvSpPr/>
          <p:nvPr/>
        </p:nvSpPr>
        <p:spPr>
          <a:xfrm>
            <a:off x="576072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 has all six.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Oluto Does That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Else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8366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173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Cashflow-First UX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is the primary interface: Revenue minus Expenses minus Tax Reserves equals what you can safely spend today. No competitor leads with this calculation.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94960" y="1508760"/>
            <a:ext cx="0" cy="7772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QuickBooks: report-centric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Xero: dashboard-centric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Puzzle: burn-rate (US startups)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2468880"/>
            <a:ext cx="8366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4688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AI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51560" y="2834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routes low-certainty AI decisions to a human review inbox. Exceptions-first workflow where AI handles the easy stuff, humans verify the rest.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394960" y="2560320"/>
            <a:ext cx="0" cy="7772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7784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57784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Digits: full automation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Kick: self-driving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QBO: Intuit Assist (black box)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0040" y="3520440"/>
            <a:ext cx="8366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35204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Canadian-Native Intelligence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051560" y="3886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Province-aware GST/HST/PST engine, CRA T2125 category mapping, and Canadian payment rail awareness built into the core, not bolted on as a config option.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394960" y="3611880"/>
            <a:ext cx="0" cy="7772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7784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57784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tools: Canada as afterthought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startups: no Canada at all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Wave: basic, stalled innovation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20040" y="4617720"/>
            <a:ext cx="836676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4617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competitor addresses cashflow-first UX + Canadian-native tax + trust-first AI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Feature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1031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23160" y="960120"/>
            <a:ext cx="10058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9601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960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960120"/>
            <a:ext cx="9601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960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49240" y="960120"/>
            <a:ext cx="1143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960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FreshBooks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960120"/>
            <a:ext cx="9144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960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96012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325880"/>
            <a:ext cx="2103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1325880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1325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29000" y="1325880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3258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1325880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3258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49240" y="1325880"/>
            <a:ext cx="1143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325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32588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325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06640" y="1325880"/>
            <a:ext cx="1005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325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1673352"/>
            <a:ext cx="2103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1673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3160" y="1673352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1673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1673352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89120" y="1673352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49240" y="1673352"/>
            <a:ext cx="11430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16733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92240" y="1673352"/>
            <a:ext cx="9144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1673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1673352"/>
            <a:ext cx="1005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1673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2020824"/>
            <a:ext cx="2103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0208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Exceptions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23160" y="2020824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2020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29000" y="2020824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20208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389120" y="2020824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0208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49240" y="2020824"/>
            <a:ext cx="1143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49240" y="20208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92240" y="2020824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2020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06640" y="2020824"/>
            <a:ext cx="1005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0" y="2020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2368296"/>
            <a:ext cx="2103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2368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Tax (All Prov.)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23160" y="2368296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2368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3/13*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429000" y="2368296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236829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89120" y="2368296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236829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349240" y="2368296"/>
            <a:ext cx="11430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23682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92240" y="2368296"/>
            <a:ext cx="9144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23682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406640" y="2368296"/>
            <a:ext cx="1005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2368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20040" y="2715768"/>
            <a:ext cx="2103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2715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T2125 Categories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423160" y="2715768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23160" y="2715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429000" y="2715768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29000" y="2715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89120" y="2715768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715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349240" y="2715768"/>
            <a:ext cx="1143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49240" y="27157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92240" y="2715768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92240" y="2715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406640" y="2715768"/>
            <a:ext cx="1005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06640" y="2715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20040" y="3063240"/>
            <a:ext cx="2103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1480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 Import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423160" y="3063240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23160" y="3063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429000" y="3063240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29000" y="3063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89120" y="3063240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063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349240" y="3063240"/>
            <a:ext cx="11430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349240" y="30632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492240" y="3063240"/>
            <a:ext cx="9144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92240" y="3063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406640" y="3063240"/>
            <a:ext cx="1005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06640" y="3063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20040" y="3410712"/>
            <a:ext cx="2103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1480" y="34107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(Bookkeeper)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423160" y="3410712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23160" y="34107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3429000" y="3410712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429000" y="34107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389120" y="3410712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389120" y="34107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349240" y="3410712"/>
            <a:ext cx="1143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349240" y="34107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492240" y="3410712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92240" y="34107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406640" y="3410712"/>
            <a:ext cx="1005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406640" y="34107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20040" y="3758184"/>
            <a:ext cx="2103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1480" y="37581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423160" y="3758184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23160" y="3758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ready**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429000" y="3758184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429000" y="3758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89120" y="3758184"/>
            <a:ext cx="960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89120" y="3758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349240" y="3758184"/>
            <a:ext cx="11430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349240" y="37581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492240" y="3758184"/>
            <a:ext cx="9144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492240" y="3758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7406640" y="3758184"/>
            <a:ext cx="100584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06640" y="3758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320040" y="4105656"/>
            <a:ext cx="2103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11480" y="41056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423160" y="4105656"/>
            <a:ext cx="1005840" cy="347472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423160" y="41056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3429000" y="4105656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429000" y="41056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389120" y="4105656"/>
            <a:ext cx="960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389120" y="41056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5349240" y="4105656"/>
            <a:ext cx="1143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349240" y="41056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492240" y="4105656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492240" y="41056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7406640" y="4105656"/>
            <a:ext cx="1005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406640" y="41056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457200" y="4526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Expanding to all 13 provinces on roadmap    ** Architecture ready for Open Banking integration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57200" y="4800600"/>
            <a:ext cx="18288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6" name="Text 144"/>
          <p:cNvSpPr/>
          <p:nvPr/>
        </p:nvSpPr>
        <p:spPr>
          <a:xfrm>
            <a:off x="6858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Core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2286000" y="4800600"/>
            <a:ext cx="18288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8" name="Text 146"/>
          <p:cNvSpPr/>
          <p:nvPr/>
        </p:nvSpPr>
        <p:spPr>
          <a:xfrm>
            <a:off x="25146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/ Planned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114800" y="4800600"/>
            <a:ext cx="18288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0" name="Text 148"/>
          <p:cNvSpPr/>
          <p:nvPr/>
        </p:nvSpPr>
        <p:spPr>
          <a:xfrm>
            <a:off x="43434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Oluto's Pricing Sweet Spot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89888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Kashoo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$20-30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83664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81328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$27+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871216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$21-68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94176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FreshBooks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$25-70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17136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$18-58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163056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$22-140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220456" y="2112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1812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$549+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91640" y="1965960"/>
            <a:ext cx="1810512" cy="411480"/>
          </a:xfrm>
          <a:prstGeom prst="rect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18745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 SWEET SPOT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743200"/>
            <a:ext cx="26517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14-30 days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 view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import, no AI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entry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2743200"/>
            <a:ext cx="26517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0" y="27432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2880360"/>
            <a:ext cx="1051560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880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6616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661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 $25-35/mo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56616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dashboard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categorization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CSV/PDF import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inbox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set-asides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274320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27432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922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 $45-65/mo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49224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bookkeeper tools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fees (following Xero model). Unlimited users is a major competitive differentiator against QuickBooks ($15-20 CAD/extra user).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Unclaimed Positions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Oluto Can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Command Center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194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leads with safe-to-spend. QBO buries cash flow in reports. Xero offers it as a paid add-on. Puzzle tracks burn rate but targets US startups only.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AI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2194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newcomers optimize for speed. Oluto optimizes for accuracy and verifiability. For Canadian SMBs where CRA audits are real, trust beats automation.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315468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Canadian-Native Intelligence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794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Province-aware tax semantics and CRA category expertise are native, not bolt-on. No AI newcomer has any Canadian presence whatsoever.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15468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Bookkeeper Distribution Channel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794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multi-client tools that turn bookkeepers from users into distribution partners. The Xero playbook, executed for Canada.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'AI-powered accounting' (everyone claims it), 'Free accounting' (Wave owns it), 'All-in-one platform' (Zoho's territory).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Priorities by Horizon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tax engine to all 13 provinces + QST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Email-to-Inbox for statement/receipt ingestion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319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immutable audit log for bookkeeper trust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4612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01168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21945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bookkeeper multi-client console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30632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Horizon (predictive cashflow, 30/90-day alerts)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74904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83280" y="39319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9476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accountant export package for tax workpapers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1234440"/>
            <a:ext cx="27432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7220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201168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2194560"/>
            <a:ext cx="320040" cy="3200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Voice-to-Ledger for mobile field workers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288036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3063240"/>
            <a:ext cx="320040" cy="3200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Compass benchmarking (network moat)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374904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09360" y="3931920"/>
            <a:ext cx="320040" cy="3200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208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integration (Flinks/Plaid)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window: 12-18 months before AI newcomers expand internationally and incumbents catch up on cashflow-first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Threat Ranking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88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THREAT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459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FreshBooks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Canadian direct competitor. Advanced AI, strong brand, $154M+ raised. Expanding from invoicing to full accounting.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6974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9748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market share, Intuit Assist AI, massive distribution. But trust is eroding and pricing is escalating.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490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94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formidable long-term threat. Unlimited users, 1,000+ integrations, strong accountant channel. Global platform accommodating Canada.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1605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188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THREAT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459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($100M)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agents, autonomous GL. If they expand to Canada, they could move fast. 12-18 month window.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9748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($50M)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017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Oluto's cashflow-first philosophy. Tracks burn rate and runway. But US VC-backed startups only.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74904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74904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794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+ FreshBooks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partnership combining self-driving bookkeeping with FreshBooks invoicing. Watch for Canadian expansion.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full Canadian tax coverage + bookkeeper channel = defensible moat that well-funded US competitors cannot easily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Oluto Wins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Canadian small business owners and their bookkeepers who need real-time financial clarity, Oluto is a cashflow-first financial platform that tells you what to do today to be safe next month.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743200" cy="146304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address all three: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cashflow-first + Canadian-native + trust-first AI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2560320"/>
            <a:ext cx="2743200" cy="146304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97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12-18 mo.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2044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window before AI newcomers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Canada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2560320"/>
            <a:ext cx="2743200" cy="146304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97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1.4M+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44652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SMBs underserved by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accounting tools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 doesn't need to out-feature QuickBooks. It needs to out-focus everyone on cashflow clarity, Canadian compliance, and proactive financial guidance.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oluto.app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Oluto — Competitive Positioning &amp; Market Strategy</dc:title>
  <dc:subject>PptxGenJS Presentation</dc:subject>
  <dc:creator>InfoTitans</dc:creator>
  <cp:lastModifiedBy>InfoTitans</cp:lastModifiedBy>
  <cp:revision>1</cp:revision>
  <dcterms:created xsi:type="dcterms:W3CDTF">2026-02-11T23:30:46Z</dcterms:created>
  <dcterms:modified xsi:type="dcterms:W3CDTF">2026-02-11T23:30:46Z</dcterms:modified>
</cp:coreProperties>
</file>