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People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Keep the Books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Oluto gives accountants and bookkeepers superpowers 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management, trust-first AI, and CRA-ready exports.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976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Console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420624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42976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AI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94960" y="420624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2976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5216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CRA-Ready Exports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008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10-30 Clients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Shouldn't Feel Like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0876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84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Tab-Switching Chaos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892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each client separately. No cross-client view. Context-switching kills your day.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0876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184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You Can't Verify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892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Intuit Assist and Digits auto-categorize, but you can't see confidence levels or audit the reasoning.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56032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5603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700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Time Scramble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868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transactions, gathering receipts, matching source docs — all manual, every period, for every client.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56032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5603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700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Tax as Afterthought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 bolt on GST/HST. None understand provincial nuance — QST vs PST vs HST by province.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" y="36118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61188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216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You'd Trust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68680" y="3995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CRA asks who changed what and when, most tools can't answer clearly.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1188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2160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Don't Do Their Part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03520" y="3995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pile up. Bank statements arrive late. No automated nudges to keep clients on track.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were built for business owners. Bookkeepers managing multiple clients are an afterthought.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MULTI-CLIENT CONSOLE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Your Clients.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workspace for bookkeepers managing multiple small businesses — not a bolted-on feature.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2560320"/>
          </a:xfrm>
          <a:prstGeom prst="rect">
            <a:avLst/>
          </a:prstGeom>
          <a:solidFill>
            <a:srgbClr val="111D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103120"/>
            <a:ext cx="640080" cy="64008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AI-flagged exceptions from all your clients in one prioritized feed. Review, approve, or reclassify without switching accounts.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828800"/>
            <a:ext cx="2743200" cy="2560320"/>
          </a:xfrm>
          <a:prstGeom prst="rect">
            <a:avLst/>
          </a:prstGeom>
          <a:solidFill>
            <a:srgbClr val="111D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8288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month-end checklists with progress tracking. See which clients are done, which are blocked, and what needs your attention.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1828800"/>
            <a:ext cx="2743200" cy="2560320"/>
          </a:xfrm>
          <a:prstGeom prst="rect">
            <a:avLst/>
          </a:prstGeom>
          <a:solidFill>
            <a:srgbClr val="111D3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1828800"/>
            <a:ext cx="27432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5"/>
          <p:cNvSpPr/>
          <p:nvPr/>
        </p:nvSpPr>
        <p:spPr>
          <a:xfrm>
            <a:off x="7223760" y="2103120"/>
            <a:ext cx="640080" cy="64008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2402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Health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5508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view of every client's financial health — cash position, pending exceptions, days since last import, close status.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HQ + Practice Manager — but designed for Canadian bookkeepers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TRUST-FIRST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Shows Its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comes with a confidence score. You review only what needs human judgment.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8288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0312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PDF,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0" y="2103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651760" y="1600200"/>
            <a:ext cx="1828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51760" y="16002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2743200" y="17373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10312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432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74320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T2125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80560" y="2103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4846320" y="1600200"/>
            <a:ext cx="1828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46320" y="16002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9"/>
          <p:cNvSpPr/>
          <p:nvPr/>
        </p:nvSpPr>
        <p:spPr>
          <a:xfrm>
            <a:off x="4937760" y="17373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10312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93776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auto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review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675120" y="2103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7040880" y="1600200"/>
            <a:ext cx="1828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040880" y="160020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6"/>
          <p:cNvSpPr/>
          <p:nvPr/>
        </p:nvSpPr>
        <p:spPr>
          <a:xfrm>
            <a:off x="7132320" y="173736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7"/>
          <p:cNvSpPr/>
          <p:nvPr/>
        </p:nvSpPr>
        <p:spPr>
          <a:xfrm>
            <a:off x="71323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103120"/>
            <a:ext cx="402336" cy="40233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232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Verify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13232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only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57200" y="342900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57200" y="3429000"/>
            <a:ext cx="39776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2"/>
          <p:cNvSpPr/>
          <p:nvPr/>
        </p:nvSpPr>
        <p:spPr>
          <a:xfrm>
            <a:off x="64008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OLUTO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4008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every transaction. 200-500 per client per month. No prioritization. No confidence indicator. Same effort whether the AI was 99% sure or 50% sure.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709160" y="34290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4709160" y="3429000"/>
            <a:ext cx="41605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36"/>
          <p:cNvSpPr/>
          <p:nvPr/>
        </p:nvSpPr>
        <p:spPr>
          <a:xfrm>
            <a:off x="489204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OLUTO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892040" y="3840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transactions are auto-approved. You only see the 10-20% that need human judgment. Each item shows why the AI flagged it. Across all clients, in one queue.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457200" y="4800600"/>
            <a:ext cx="8366760" cy="2743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5" name="Text 39"/>
          <p:cNvSpPr/>
          <p:nvPr/>
        </p:nvSpPr>
        <p:spPr>
          <a:xfrm>
            <a:off x="640080" y="480060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80-90% reduction in review time. You focus on judgment calls, not rubber-stamping.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 WORKPAPER EXPORTS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Click from Close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CRA-Ready Package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4937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4937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PACKAGE CONTENTS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33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Transaction CSV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167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for the period, with CRA T2125 categories, tax breakdowns by province, and original source references.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Attachments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Receipts, bank statements, and imported PDFs matched to their transactions. No more chasing clients for documents.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06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063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60120" y="3264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when, and why — every edit, approval, categorization change, and AI decision traced with actor and timestamp.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611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Summary by Province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960120" y="3813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GST/HST/PST/QST calculated and broken out by province. Pre-formatted for Canadian tax workpaper standards.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8795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4160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Verification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960120" y="4361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that all exceptions were reviewed, all reconciliations completed, and the period is locked for integrity.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5577840" y="1463040"/>
            <a:ext cx="329184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577840" y="1463040"/>
            <a:ext cx="32918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17"/>
          <p:cNvSpPr/>
          <p:nvPr/>
        </p:nvSpPr>
        <p:spPr>
          <a:xfrm>
            <a:off x="57607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806440" y="20574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19"/>
          <p:cNvSpPr/>
          <p:nvPr/>
        </p:nvSpPr>
        <p:spPr>
          <a:xfrm>
            <a:off x="58064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263640" y="2029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close checklist for a client's period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806440" y="26974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2"/>
          <p:cNvSpPr/>
          <p:nvPr/>
        </p:nvSpPr>
        <p:spPr>
          <a:xfrm>
            <a:off x="580644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263640" y="2670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"Export Tax Workpaper" from the client dashboard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806440" y="3337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5"/>
          <p:cNvSpPr/>
          <p:nvPr/>
        </p:nvSpPr>
        <p:spPr>
          <a:xfrm>
            <a:off x="58064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263640" y="3310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 compiles all transactions, attachments, audit log, and tax calculations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806440" y="39776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28"/>
          <p:cNvSpPr/>
          <p:nvPr/>
        </p:nvSpPr>
        <p:spPr>
          <a:xfrm>
            <a:off x="58064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263640" y="3950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structured ZIP ready to hand to the accountant or file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760720" y="4160520"/>
            <a:ext cx="292608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576072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→ Minutes
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client, per period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CANADIAN-NATIVE TAX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Bolt-On.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Canada.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41605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 — BUILT IN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33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GST/HST/PST/QST engine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48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T2125 expense category mapping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1635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reserves auto-calculated and set aside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278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net of tax obligations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3931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Canadian expense patterns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079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provinces live (BC, ON, AB) — expanding to all 13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4754880" y="1463040"/>
            <a:ext cx="4160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54880" y="1463040"/>
            <a:ext cx="41605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3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COMPETITORS — BOLTED ON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937760" y="1965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4937760" y="2148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tax as config option on a US platform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937760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937760" y="2624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Global-first, Canada accommodated — not native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37760" y="2916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937760" y="30998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GST/HST only, innovation stalled since H&amp;R Block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937760" y="3392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/ Kick / Puzzle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937760" y="35753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Canadian support — US/UK only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93776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Kashoo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937760" y="4050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Manual-first, no AI, limited province support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320040" y="4572000"/>
            <a:ext cx="859536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3" name="Text 25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CRA compliance is your responsibility, the difference between native and bolted-on is the difference between confidence and anxiety.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Oluto Means for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80-90%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Review Time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Exceptions-only workflow means you're not rubber-stamping what the AI already got right.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2-3x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30352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Clients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on transaction review and export prep lets you take on more clients without hiring.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310896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6868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Surprises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3886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+ province-aware tax engine means every number traces back to its source.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4160520" cy="141732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530352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37760" y="3886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gives clients daily clarity. They ask you less, trust you more.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 CAD $45-65/mo per client. No per-user fees. Your whole team, unlimited.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building another accounting tool that treats bookkeepers as an afterthought. We're building the platform you'd design if you were starting from your workflow.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743200" cy="150876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670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among the first bookkeepers to use the multi-client console. Shape the product with direct feedback.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560320"/>
            <a:ext cx="2743200" cy="150876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670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pricing for your clients. Priority support. Your practice listed in our bookkeeper directory.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2560320"/>
            <a:ext cx="2743200" cy="1508760"/>
          </a:xfrm>
          <a:prstGeom prst="rect">
            <a:avLst/>
          </a:prstGeom>
          <a:solidFill>
            <a:srgbClr val="111D32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97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2670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your ideal workflow looks like. We'll build the close checklists and export formats you actually need.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deserve cashflow clarity. You deserve tools built for how you actually work.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oluto.app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2004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profemzy@gmail.com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9436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Oluto for Accountants &amp; Bookkeepers</dc:title>
  <dc:subject>PptxGenJS Presentation</dc:subject>
  <dc:creator>InfoTitans</dc:creator>
  <cp:lastModifiedBy>InfoTitans</cp:lastModifiedBy>
  <cp:revision>1</cp:revision>
  <dcterms:created xsi:type="dcterms:W3CDTF">2026-02-12T00:07:17Z</dcterms:created>
  <dcterms:modified xsi:type="dcterms:W3CDTF">2026-02-12T00:07:17Z</dcterms:modified>
</cp:coreProperties>
</file>